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805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　ユースケース図（機能と利用者の全体像）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805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誰が・何をできるか：システムの全体像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88920" y="1691640"/>
            <a:ext cx="4297680" cy="3886200"/>
          </a:xfrm>
          <a:prstGeom prst="rect">
            <a:avLst/>
          </a:prstGeom>
          <a:solidFill>
            <a:srgbClr val="EEF1F6"/>
          </a:solidFill>
          <a:ln w="19050">
            <a:solidFill>
              <a:srgbClr val="0E2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1691640"/>
            <a:ext cx="4297680" cy="32918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6" name="Text 4"/>
          <p:cNvSpPr/>
          <p:nvPr/>
        </p:nvSpPr>
        <p:spPr>
          <a:xfrm>
            <a:off x="2788920" y="16916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AI解析エージェント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83480" y="2286000"/>
            <a:ext cx="1874520" cy="548640"/>
          </a:xfrm>
          <a:prstGeom prst="ellipse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</a:t>
            </a:r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アラートの自動解析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83480" y="3108960"/>
            <a:ext cx="1874520" cy="548640"/>
          </a:xfrm>
          <a:prstGeom prst="ellipse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</a:t>
            </a:r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関連ログの自動収集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83480" y="3931920"/>
            <a:ext cx="1874520" cy="548640"/>
          </a:xfrm>
          <a:prstGeom prst="ellipse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3931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</a:t>
            </a:r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原因・修正案の生成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17520" y="2286000"/>
            <a:ext cx="1874520" cy="548640"/>
          </a:xfrm>
          <a:prstGeom prst="ellipse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</a:t>
            </a:r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通知の確認・対応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3108960"/>
            <a:ext cx="1874520" cy="548640"/>
          </a:xfrm>
          <a:prstGeom prst="ellipse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</a:t>
            </a:r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深掘り解析の実行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17520" y="3931920"/>
            <a:ext cx="1874520" cy="548640"/>
          </a:xfrm>
          <a:prstGeom prst="ellipse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3931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</a:t>
            </a:r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解析ルールの設定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89304" y="2514600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22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679192"/>
            <a:ext cx="0" cy="27432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5296" y="2761488"/>
            <a:ext cx="292608" cy="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1243584" y="2953512"/>
            <a:ext cx="128016" cy="18288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2953512"/>
            <a:ext cx="128016" cy="182880"/>
          </a:xfrm>
          <a:prstGeom prst="line">
            <a:avLst/>
          </a:prstGeom>
          <a:noFill/>
          <a:ln w="22225">
            <a:solidFill>
              <a:srgbClr val="0E22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154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89304" y="4251960"/>
            <a:ext cx="164592" cy="16459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4416552"/>
            <a:ext cx="0" cy="274320"/>
          </a:xfrm>
          <a:prstGeom prst="line">
            <a:avLst/>
          </a:prstGeom>
          <a:noFill/>
          <a:ln w="22225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25296" y="4498848"/>
            <a:ext cx="292608" cy="0"/>
          </a:xfrm>
          <a:prstGeom prst="line">
            <a:avLst/>
          </a:prstGeom>
          <a:noFill/>
          <a:ln w="22225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1243584" y="4690872"/>
            <a:ext cx="128016" cy="182880"/>
          </a:xfrm>
          <a:prstGeom prst="line">
            <a:avLst/>
          </a:prstGeom>
          <a:noFill/>
          <a:ln w="22225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4690872"/>
            <a:ext cx="128016" cy="182880"/>
          </a:xfrm>
          <a:prstGeom prst="line">
            <a:avLst/>
          </a:prstGeom>
          <a:noFill/>
          <a:ln w="22225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892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2240280"/>
            <a:ext cx="1600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772668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Datadog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（外部システム）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26680" y="3977640"/>
            <a:ext cx="16002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726680" y="39776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Anthropic API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（外部システム）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flipV="1">
            <a:off x="1874520" y="2560320"/>
            <a:ext cx="1143000" cy="365760"/>
          </a:xfrm>
          <a:prstGeom prst="line">
            <a:avLst/>
          </a:prstGeom>
          <a:noFill/>
          <a:ln w="15875">
            <a:solidFill>
              <a:srgbClr val="7A889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4520" y="3017520"/>
            <a:ext cx="1143000" cy="365760"/>
          </a:xfrm>
          <a:prstGeom prst="line">
            <a:avLst/>
          </a:prstGeom>
          <a:noFill/>
          <a:ln w="15875">
            <a:solidFill>
              <a:srgbClr val="7A88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1874520" y="4206240"/>
            <a:ext cx="1143000" cy="502920"/>
          </a:xfrm>
          <a:prstGeom prst="line">
            <a:avLst/>
          </a:prstGeom>
          <a:noFill/>
          <a:ln w="15875">
            <a:solidFill>
              <a:srgbClr val="7A889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6858000" y="2423160"/>
            <a:ext cx="868680" cy="13716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6858000" y="2560320"/>
            <a:ext cx="868680" cy="82296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6858000" y="4206240"/>
            <a:ext cx="868680" cy="18288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193792"/>
            <a:ext cx="8805672" cy="475488"/>
          </a:xfrm>
          <a:prstGeom prst="rect">
            <a:avLst/>
          </a:prstGeom>
          <a:solidFill>
            <a:srgbClr val="EEF1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193792"/>
            <a:ext cx="8439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＝通知の確認・深掘り実行（④⑤）　　</a:t>
            </a:r>
            <a:pPr indent="0" marL="0">
              <a:buNone/>
            </a:pPr>
            <a:r>
              <a:rPr lang="en-US" sz="10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＝ルール設定（⑥）　　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①〜③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＝人手ゼロの全自動処理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5779008"/>
            <a:ext cx="880567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779008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解析（①〜③）は全自動。人が関わるのは確認・判断（④〜⑥）のみ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805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　ユーザーフロー図（画面・操作の流れ）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805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通知を受けてから対応完了までの操作フロー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520440" y="16916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E2240"/>
          </a:solidFill>
          <a:ln/>
        </p:spPr>
      </p:sp>
      <p:sp>
        <p:nvSpPr>
          <p:cNvPr id="5" name="Text 3"/>
          <p:cNvSpPr/>
          <p:nvPr/>
        </p:nvSpPr>
        <p:spPr>
          <a:xfrm>
            <a:off x="35204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60520" y="2057400"/>
            <a:ext cx="0" cy="228600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2286000"/>
            <a:ext cx="2286000" cy="45720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22860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</a:t>
            </a:r>
            <a:pPr algn="ctr"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Slackで通知を受信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2743200"/>
            <a:ext cx="0" cy="201168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17520" y="2944368"/>
            <a:ext cx="2286000" cy="45720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2944368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</a:t>
            </a:r>
            <a:pPr algn="ctr"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問題・原因・修正案を確認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3401568"/>
            <a:ext cx="0" cy="201168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91840" y="3602736"/>
            <a:ext cx="1737360" cy="768096"/>
          </a:xfrm>
          <a:prstGeom prst="diamond">
            <a:avLst/>
          </a:prstGeom>
          <a:solidFill>
            <a:srgbClr val="FFFFFF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602736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</a:t>
            </a:r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重大障害？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0" y="3986784"/>
            <a:ext cx="1371600" cy="0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166360" y="3675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3758184"/>
            <a:ext cx="2286000" cy="45720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75818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</a:t>
            </a:r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Sonnetで深掘り解析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4215384"/>
            <a:ext cx="0" cy="539496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4754880"/>
            <a:ext cx="2286000" cy="45720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47548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</a:t>
            </a:r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障害対応を開始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4370832"/>
            <a:ext cx="0" cy="384048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33672" y="4480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いいえ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17520" y="4754880"/>
            <a:ext cx="2286000" cy="457200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475488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④' </a:t>
            </a:r>
            <a:pPr algn="ctr"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定常対応（当日中に処理）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60520" y="5212080"/>
            <a:ext cx="0" cy="137160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520440" y="534924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5349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1691640"/>
            <a:ext cx="2148840" cy="32918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169164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判断基準（③）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2020824"/>
            <a:ext cx="2148840" cy="1600200"/>
          </a:xfrm>
          <a:prstGeom prst="rect">
            <a:avLst/>
          </a:prstGeom>
          <a:solidFill>
            <a:srgbClr val="EEF1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2112264"/>
            <a:ext cx="19293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重大障害の条件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・決済／認証システム
・エラー率10%以上
・複数システムに波及
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上記以外は定常対応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840480"/>
            <a:ext cx="2148840" cy="329184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84048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所要時間の目安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169664"/>
            <a:ext cx="2148840" cy="1188720"/>
          </a:xfrm>
          <a:prstGeom prst="rect">
            <a:avLst/>
          </a:prstGeom>
          <a:solidFill>
            <a:srgbClr val="EEF1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261104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①受信：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検知から約20秒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②確認：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約1〜2分
</a:t>
            </a:r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④深掘り：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約1分で結果返却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5779008"/>
            <a:ext cx="880567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779008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定常時は「確認して完了」。重大時のみ深掘り解析を挟む2段運用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805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　スイムレーン図（役割別の業務フロー）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805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課題対応フロー：誰が・いつ・何をするか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51560" cy="118872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00200" y="1691640"/>
            <a:ext cx="77541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80360"/>
            <a:ext cx="1051560" cy="118872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00200" y="2880360"/>
            <a:ext cx="7754112" cy="1188720"/>
          </a:xfrm>
          <a:prstGeom prst="rect">
            <a:avLst/>
          </a:prstGeom>
          <a:solidFill>
            <a:srgbClr val="EEF1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69080"/>
            <a:ext cx="1051560" cy="118872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69080"/>
            <a:ext cx="1051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開発チーム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00200" y="4069080"/>
            <a:ext cx="77541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3936" y="1956816"/>
            <a:ext cx="1481328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9656" y="195681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</a:t>
            </a:r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課題を起票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Backlogに登録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82696" y="3145536"/>
            <a:ext cx="1481328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314553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</a:t>
            </a:r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内容確認・翻訳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当日中に開発へ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91456" y="4334256"/>
            <a:ext cx="1481328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433425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</a:t>
            </a:r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調査・修正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見積り回答→着手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0216" y="4334256"/>
            <a:ext cx="1481328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433425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</a:t>
            </a:r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テスト・検証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検証結果を添付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0216" y="3145536"/>
            <a:ext cx="1481328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314553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</a:t>
            </a:r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結果報告（日本語）
</a:t>
            </a:r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完了から1営業日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63256" y="1956816"/>
            <a:ext cx="1481328" cy="658368"/>
          </a:xfrm>
          <a:prstGeom prst="rect">
            <a:avLst/>
          </a:prstGeom>
          <a:solidFill>
            <a:srgbClr val="D5DAE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08976" y="1956816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</a:t>
            </a:r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確認・クローズ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55264" y="2286000"/>
            <a:ext cx="27432" cy="1188720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764024" y="3474720"/>
            <a:ext cx="27432" cy="1188720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72784" y="4663440"/>
            <a:ext cx="27432" cy="0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7040880" y="3803904"/>
            <a:ext cx="0" cy="530352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 flipV="1">
            <a:off x="7763256" y="2286000"/>
            <a:ext cx="18288" cy="1188720"/>
          </a:xfrm>
          <a:prstGeom prst="line">
            <a:avLst/>
          </a:prstGeom>
          <a:noFill/>
          <a:ln w="19050">
            <a:solidFill>
              <a:srgbClr val="0E224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5394960"/>
            <a:ext cx="8805672" cy="292608"/>
          </a:xfrm>
          <a:prstGeom prst="rect">
            <a:avLst/>
          </a:prstGeom>
          <a:solidFill>
            <a:srgbClr val="CBD5E8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394960"/>
            <a:ext cx="8531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SLA目安：</a:t>
            </a:r>
            <a:pPr indent="0" marL="0">
              <a:buNone/>
            </a:pPr>
            <a:r>
              <a:rPr lang="en-US" sz="950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起票当日中に一次回答　／　③ 見積り回答＝2営業日以内　／　⑤ 修正完了から1営業日以内に報告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779008"/>
            <a:ext cx="880567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779008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お客様の作業は起票とクローズ確認のみ。翻訳・調整はBrSEが吸収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805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　カテゴリ分類表（機能一覧の整理）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805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機能一覧：カテゴリ×優先度×導入フェーズ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805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783080"/>
                <a:gridCol w="4023360"/>
                <a:gridCol w="850392"/>
                <a:gridCol w="1097280"/>
              </a:tblGrid>
              <a:tr h="3611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機能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優先度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フェーズ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E8"/>
                    </a:solidFill>
                  </a:tcPr>
                </a:tc>
              </a:tr>
              <a:tr h="36118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検知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異常検知連携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Datadog Monitorの既存設定をそのまま利用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PoC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1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重大度判定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対象システム・タグから重大度を自動判定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188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解析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関連ログ収集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発生前後±15分のログをLogs APIで自動取得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PoC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1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原因分析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Claudeが問題・原因・修正案を生成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PoC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1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深掘り解析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重大障害時にSonnetで再解析（オンデマンド）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2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18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通知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Slack通知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Block Kit形式で整形して即時投稿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PoC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1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日次サマリ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当日の全アラートを集計してレポート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18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解析ルール設定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対象システム・閾値・通知先の管理画面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188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コストレポート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API利用料の月次集計・予算アラート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E224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3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8805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＝必須（PoCに含む）　</a:t>
            </a:r>
            <a:pPr indent="0" marL="0">
              <a:buNone/>
            </a:pPr>
            <a:r>
              <a:rPr lang="en-US" sz="1000" b="1" dirty="0">
                <a:solidFill>
                  <a:srgbClr val="0E22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＝推奨　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＝任意（効果を見て判断）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779008"/>
            <a:ext cx="880567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779008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PoCは◎の4機能に絞って最短で効果検証。○△は効果を見て段階導入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2026-07-11T07:33:56Z</dcterms:created>
  <dcterms:modified xsi:type="dcterms:W3CDTF">2026-07-11T07:33:56Z</dcterms:modified>
</cp:coreProperties>
</file>